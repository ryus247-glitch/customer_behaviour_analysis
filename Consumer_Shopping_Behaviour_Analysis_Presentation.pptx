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13E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6213E"/>
                </a:solidFill>
                <a:latin typeface="Cambria"/>
              </a:rPr>
              <a:t>Total Revenue by Gender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FF6F5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F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92C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9"/>
          <c:min val="3.6"/>
        </c:scaling>
        <c:delete val="0"/>
        <c:axPos val="b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FF6F5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0"/>
        </c:scaling>
        <c:delete val="0"/>
        <c:axPos val="b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(USD)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92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F5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50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213E"/>
              </a:solidFill>
              <a:effectLst/>
            </c:spPr>
          </c:dPt>
          <c:dPt>
            <c:idx val="1"/>
            <c:bubble3D val="0"/>
            <c:spPr>
              <a:solidFill>
                <a:srgbClr val="3E92CC"/>
              </a:solidFill>
              <a:effectLst/>
            </c:spPr>
          </c:dPt>
          <c:dPt>
            <c:idx val="2"/>
            <c:bubble3D val="0"/>
            <c:spPr>
              <a:solidFill>
                <a:srgbClr val="FF6F59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3E92C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"/>
          <c:min val="0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E17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3E92C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3E92C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Shopping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retail transactions into insights on purchasing trends,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loyalty, and product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39112" cy="420624"/>
          </a:xfrm>
          <a:prstGeom prst="roundRect">
            <a:avLst>
              <a:gd name="adj" fmla="val 50000"/>
            </a:avLst>
          </a:prstGeom>
          <a:solidFill>
            <a:srgbClr val="0E17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92040"/>
            <a:ext cx="2039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4892040"/>
            <a:ext cx="3063240" cy="420624"/>
          </a:xfrm>
          <a:prstGeom prst="roundRect">
            <a:avLst>
              <a:gd name="adj" fmla="val 50000"/>
            </a:avLst>
          </a:prstGeom>
          <a:solidFill>
            <a:srgbClr val="0E1730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8920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7648" y="4892040"/>
            <a:ext cx="2551176" cy="420624"/>
          </a:xfrm>
          <a:prstGeom prst="roundRect">
            <a:avLst>
              <a:gd name="adj" fmla="val 50000"/>
            </a:avLst>
          </a:prstGeom>
          <a:solidFill>
            <a:srgbClr val="0E17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4892040"/>
            <a:ext cx="2551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9992" y="4892040"/>
            <a:ext cx="2039112" cy="420624"/>
          </a:xfrm>
          <a:prstGeom prst="roundRect">
            <a:avLst>
              <a:gd name="adj" fmla="val 50000"/>
            </a:avLst>
          </a:prstGeom>
          <a:solidFill>
            <a:srgbClr val="0E1730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4892040"/>
            <a:ext cx="20391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Workflow  •  Python  →  SQL  →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retail organisation wants deeper insight into customer purchasing behaviour to strengthen relationships and improve retention. Buying habits are shifting across customer groups, product categories, and shopping channels — and leadership needs to understand how discounts, product ratings, seasonal demand, and payment preferences shape purchasing decisions and loyalty.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645152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4988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 &amp; demographics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8828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&amp; seasonal demand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413248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2669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vs. in-store channels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797296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6509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ratings &amp; payment methods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228600" dist="76200" dir="5400000">
              <a:srgbClr val="16213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46888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consumer shopping data be analysed to identify purchasing trends, improve customer engagement, and support more effective marketing and product decisions?”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4884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clean, and transform raw transaction data in Python.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4096" y="2148840"/>
            <a:ext cx="502920" cy="50292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1" name="Text 9"/>
          <p:cNvSpPr/>
          <p:nvPr/>
        </p:nvSpPr>
        <p:spPr>
          <a:xfrm>
            <a:off x="3054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SQL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017520" y="36118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relational database and query customer behaviour &amp; sales drivers.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0096" y="214884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6" name="Text 14"/>
          <p:cNvSpPr/>
          <p:nvPr/>
        </p:nvSpPr>
        <p:spPr>
          <a:xfrm>
            <a:off x="5340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2880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03520" y="36118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KPIs, demographics, and category visuals with filters.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87452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26096" y="2148840"/>
            <a:ext cx="502920" cy="50292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7626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880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Presentation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89520" y="36118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methodology, findings, and recommendations for stakeholders.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1874520"/>
            <a:ext cx="2121408" cy="39776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12096" y="2148840"/>
            <a:ext cx="502920" cy="50292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6" name="Text 24"/>
          <p:cNvSpPr/>
          <p:nvPr/>
        </p:nvSpPr>
        <p:spPr>
          <a:xfrm>
            <a:off x="9912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880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75520" y="361188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Well-organised scripts, queries, dashboard file, and documentation.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39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0449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039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30449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03911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39328" y="30449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05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" y="50109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4005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90288" y="50109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4005072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39328" y="50109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 IMPUTED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span three groups: customer demographics (age, gender, location, subscription), purchase details (item, category, amount, season, size, color), and shopping behaviour (discounts, promos, review ratings, shipping type, purchase frequency).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Preparing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7627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214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3,900 rows with pandas from CSV.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17627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1214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structure with .info() and .describe(); check for nulls.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17627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21214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834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37 missing ratings using each category's median.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41655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50749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headers to snake_case for consistency.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441655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57800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99432" y="50749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age_group and purchase_frequency_days features.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E173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41655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52560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94192" y="50749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cleaned DataFrame into PostgreSQL via SQLAlchemy.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237744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3E92CC"/>
            </a:solidFill>
            <a:prstDash val="solid"/>
          </a:ln>
          <a:effectLst>
            <a:outerShdw sx="100000" sy="100000" kx="0" ky="0" algn="bl" rotWithShape="0" blurRad="101600" dist="38100" dir="5400000">
              <a:srgbClr val="16213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3816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3816" y="3337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clean &amp;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63240" y="3300984"/>
            <a:ext cx="393192" cy="256032"/>
          </a:xfrm>
          <a:prstGeom prst="rightArrow">
            <a:avLst/>
          </a:prstGeom>
          <a:solidFill>
            <a:srgbClr val="3E92CC"/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237744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F6F59"/>
            </a:solidFill>
            <a:prstDash val="solid"/>
          </a:ln>
          <a:effectLst>
            <a:outerShdw sx="100000" sy="100000" kx="0" ky="0" algn="bl" rotWithShape="0" blurRad="101600" dist="38100" dir="5400000">
              <a:srgbClr val="16213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48456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48456" y="3337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3300984"/>
            <a:ext cx="393192" cy="256032"/>
          </a:xfrm>
          <a:prstGeom prst="rightArrow">
            <a:avLst/>
          </a:prstGeom>
          <a:solidFill>
            <a:srgbClr val="FF6F5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237744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3E92CC"/>
            </a:solidFill>
            <a:prstDash val="solid"/>
          </a:ln>
          <a:effectLst>
            <a:outerShdw sx="100000" sy="100000" kx="0" ky="0" algn="bl" rotWithShape="0" blurRad="101600" dist="38100" dir="5400000">
              <a:srgbClr val="16213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83096" y="3337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queries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customer behaviour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3300984"/>
            <a:ext cx="393192" cy="256032"/>
          </a:xfrm>
          <a:prstGeom prst="rightArrow">
            <a:avLst/>
          </a:prstGeom>
          <a:solidFill>
            <a:srgbClr val="3E92C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0576" y="237744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F6F59"/>
            </a:solidFill>
            <a:prstDash val="solid"/>
          </a:ln>
          <a:effectLst>
            <a:outerShdw sx="100000" sy="100000" kx="0" ky="0" algn="bl" rotWithShape="0" blurRad="101600" dist="38100" dir="5400000">
              <a:srgbClr val="16213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2697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17736" y="3337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is loaded into a PostgreSQL database, queried with SQL to answer 10 targeted business questions, then visualised in an interactive Power BI dashboard — and every script, query, and file is version-controlled on GitHub.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the Revenue?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83080"/>
            <a:ext cx="4983480" cy="4023360"/>
          </a:xfrm>
          <a:prstGeom prst="roundRect">
            <a:avLst>
              <a:gd name="adj" fmla="val 272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77800" dist="63500" dir="5400000">
              <a:srgbClr val="16213E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DISCOUNT SHOPPERS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95160" y="23774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6995160" y="3429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a discount code yet still spent above the $59.76 average order value.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95160" y="4389120"/>
            <a:ext cx="43891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4572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over 2× the revenue of female customers, while a meaningful share of shoppers are discount-resilient — high spenders regardless of promotions.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Win — and Which Rely on Discounts?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AVERAGE RATING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DISCOUNT RELIANCE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05740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Speed or Loyalty Change Spend?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BY SHIPPING TYPE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shoppers spend only ~$2 more on average — shipping speed barely moves basket size.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vs. NON-SUBSCRIBERS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205740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01000" y="22860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5256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149840" y="228600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2788920"/>
            <a:ext cx="4846320" cy="0"/>
          </a:xfrm>
          <a:prstGeom prst="line">
            <a:avLst/>
          </a:prstGeom>
          <a:noFill/>
          <a:ln w="15875">
            <a:solidFill>
              <a:srgbClr val="1621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8529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2852928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52560" y="28529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149840" y="285292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0" y="3355848"/>
            <a:ext cx="4846320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4198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Subscribed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01000" y="341985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52560" y="341985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149840" y="3419856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0" y="3922776"/>
            <a:ext cx="4846320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4123944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generate 73% of total revenue — the subscriber base is small but nearly matches non-subscribers in average spend.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Loyal Is the Customer Base?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SEGMENT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9164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77800" dist="63500" dir="5400000">
              <a:srgbClr val="16213E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frequent shoppers more likely to subscribe?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Subscribed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264408"/>
            <a:ext cx="4389120" cy="201168"/>
          </a:xfrm>
          <a:prstGeom prst="roundRect">
            <a:avLst>
              <a:gd name="adj" fmla="val 22727"/>
            </a:avLst>
          </a:prstGeom>
          <a:solidFill>
            <a:srgbClr val="0E1730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3264408"/>
            <a:ext cx="4389120" cy="201168"/>
          </a:xfrm>
          <a:prstGeom prst="roundRect">
            <a:avLst>
              <a:gd name="adj" fmla="val 22727"/>
            </a:avLst>
          </a:prstGeom>
          <a:solidFill>
            <a:srgbClr val="FF6F5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3685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0" y="3685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3977640"/>
            <a:ext cx="4389120" cy="201168"/>
          </a:xfrm>
          <a:prstGeom prst="roundRect">
            <a:avLst>
              <a:gd name="adj" fmla="val 22727"/>
            </a:avLst>
          </a:prstGeom>
          <a:solidFill>
            <a:srgbClr val="0E173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0" y="3977640"/>
            <a:ext cx="1669888" cy="201168"/>
          </a:xfrm>
          <a:prstGeom prst="roundRect">
            <a:avLst>
              <a:gd name="adj" fmla="val 22727"/>
            </a:avLst>
          </a:prstGeom>
          <a:solidFill>
            <a:srgbClr val="FF6F59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4416552"/>
            <a:ext cx="475488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58114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customers with more than 5 previous purchases, most remain non-subscribers — repeat purchasing alone doesn't drive subscription sign-ups, so loyalty needs a dedicated push.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 &amp; Best Sellers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5740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BEST SELLER PER CATEGORY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21031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92240" y="24505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Blouse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509760" y="210312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0976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63640" y="309067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3182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92240" y="3438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Jewelry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509760" y="309067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509760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407822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4425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509760" y="407822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09760" y="46451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263640" y="506577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51572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92240" y="54132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Jacket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509760" y="5065776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509760" y="5632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by Age Group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7040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87452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77800" dist="63500" dir="5400000">
              <a:srgbClr val="16213E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83880" y="260604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remarkably even across age brackets — within an $6,400 spread of one another.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83880" y="41148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generation dominates spend, so age-based campaigns should broaden reach rather than concentrate on one segment.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subscription analysis, category revenue &amp; sales, and age-group insights — all explorable through interactive filters and slicers.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10778" y="1856232"/>
            <a:ext cx="7167397" cy="4334256"/>
          </a:xfrm>
          <a:prstGeom prst="roundRect">
            <a:avLst>
              <a:gd name="adj" fmla="val 1688"/>
            </a:avLst>
          </a:prstGeom>
          <a:solidFill>
            <a:srgbClr val="0E1730"/>
          </a:solidFill>
          <a:ln/>
          <a:effectLst>
            <a:outerShdw sx="100000" sy="100000" kx="0" ky="0" algn="bl" rotWithShape="0" blurRad="254000" dist="1016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crop_p7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0506" y="1965960"/>
            <a:ext cx="6947941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621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Subscriber 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03520" y="1746504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exclusive, members-only perks to lift the 27% subscription rate.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79192"/>
            <a:ext cx="438912" cy="438912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91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Repeat Buyers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03520" y="2587752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loyalty incentives that move Returning customers into the Loyal tier.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621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Discount Strategy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03520" y="3429000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 sales lift from heavy discounting against margin impact on reliant items.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621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61688"/>
            <a:ext cx="438912" cy="438912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61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27024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Top Performers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03520" y="4270248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highly-rated, best-selling items like Gloves and Jewelry in campaigns.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621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202936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02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1114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High-Revenue Segments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03520" y="5111496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Clothing &amp; Accessories buyers and express-shipping users.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Repository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78308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606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777240" cy="7772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4920" y="178308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606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consumer-shopping-behaviour-analysis/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data/customer_shopping_behavior.csv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notebooks/data_preparation.ipynb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sql/customer_behavior_queries.sql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dashboard/customer_behavior_dashboard.pbix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report/analysis_report.pdf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42900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105656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9684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cleaning &amp; feature engineering notebook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636008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4988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documented SQL business-question queries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5029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Power BI dashboard (.pbix) with live filters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696712"/>
            <a:ext cx="82296" cy="82296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5559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with methodology &amp; recommendations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E173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474720" cy="3474720"/>
          </a:xfrm>
          <a:prstGeom prst="ellipse">
            <a:avLst/>
          </a:prstGeom>
          <a:solidFill>
            <a:srgbClr val="3E92C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analysis, code, and dashboard on GitHub.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4988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github.com/yourusername/consumer-shopping-behaviour-analysis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19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linkedin.com/in/yourusername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632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9253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yourname@email.com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2026-07-26T02:44:33Z</dcterms:created>
  <dcterms:modified xsi:type="dcterms:W3CDTF">2026-07-26T02:44:33Z</dcterms:modified>
</cp:coreProperties>
</file>